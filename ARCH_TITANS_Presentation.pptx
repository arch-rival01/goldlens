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Raw gap</c:v>
                </c:pt>
                <c:pt idx="1">
                  <c:v>Purity
(995 vs 999)</c:v>
                </c:pt>
                <c:pt idx="2">
                  <c:v>Expiry
carry</c:v>
                </c:pt>
                <c:pt idx="3">
                  <c:v>Structural
premium</c:v>
                </c:pt>
                <c:pt idx="4">
                  <c:v>Residual
signal</c:v>
                </c:pt>
                <c:pt idx="5">
                  <c:v>Round-trip
cost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12.0</c:v>
                </c:pt>
                <c:pt idx="2">
                  <c:v>5.0</c:v>
                </c:pt>
                <c:pt idx="3">
                  <c:v>2.0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5B6770"/>
              </a:solidFill>
              <a:ln>
                <a:noFill/>
              </a:ln>
            </c:spPr>
          </c:dPt>
          <c:dPt>
            <c:idx val="1"/>
            <c:spPr>
              <a:solidFill>
                <a:srgbClr val="D97B1F"/>
              </a:solidFill>
              <a:ln>
                <a:noFill/>
              </a:ln>
            </c:spPr>
          </c:dPt>
          <c:dPt>
            <c:idx val="2"/>
            <c:spPr>
              <a:solidFill>
                <a:srgbClr val="D97B1F"/>
              </a:solidFill>
              <a:ln>
                <a:noFill/>
              </a:ln>
            </c:spPr>
          </c:dPt>
          <c:dPt>
            <c:idx val="3"/>
            <c:spPr>
              <a:solidFill>
                <a:srgbClr val="D97B1F"/>
              </a:solidFill>
              <a:ln>
                <a:noFill/>
              </a:ln>
            </c:spPr>
          </c:dPt>
          <c:dPt>
            <c:idx val="4"/>
            <c:spPr>
              <a:solidFill>
                <a:srgbClr val="2E7D73"/>
              </a:solidFill>
              <a:ln>
                <a:noFill/>
              </a:ln>
            </c:spPr>
          </c:dPt>
          <c:dPt>
            <c:idx val="5"/>
            <c:spPr>
              <a:solidFill>
                <a:srgbClr val="B23A4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650" b="1">
                        <a:solidFill>
                          <a:srgbClr val="FFFFFF"/>
                        </a:solidFill>
                      </a:rPr>
                      <a:t>52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650" b="1">
                        <a:solidFill>
                          <a:srgbClr val="FFFFFF"/>
                        </a:solidFill>
                      </a:rPr>
                      <a:t>-40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50" b="1">
                        <a:solidFill>
                          <a:srgbClr val="FFFFFF"/>
                        </a:solidFill>
                      </a:rPr>
                      <a:t>-7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Raw gap</c:v>
                </c:pt>
                <c:pt idx="1">
                  <c:v>Purity
(995 vs 999)</c:v>
                </c:pt>
                <c:pt idx="2">
                  <c:v>Expiry
carry</c:v>
                </c:pt>
                <c:pt idx="3">
                  <c:v>Structural
premium</c:v>
                </c:pt>
                <c:pt idx="4">
                  <c:v>Residual
signal</c:v>
                </c:pt>
                <c:pt idx="5">
                  <c:v>Round-trip
cost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52.0</c:v>
                </c:pt>
                <c:pt idx="1">
                  <c:v>40.0</c:v>
                </c:pt>
                <c:pt idx="2">
                  <c:v>7.0</c:v>
                </c:pt>
                <c:pt idx="3">
                  <c:v>3.0</c:v>
                </c:pt>
                <c:pt idx="4">
                  <c:v>2.0</c:v>
                </c:pt>
                <c:pt idx="5">
                  <c:v>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cap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3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1D1D1F"/>
                        </a:solidFill>
                      </a:rPr>
                      <a:t>-3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2E7D73"/>
                        </a:solidFill>
                      </a:rPr>
                      <a:t>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B23A48"/>
                        </a:solidFill>
                      </a:rPr>
                      <a:t>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Raw gap</c:v>
                </c:pt>
                <c:pt idx="1">
                  <c:v>Purity
(995 vs 999)</c:v>
                </c:pt>
                <c:pt idx="2">
                  <c:v>Expiry
carry</c:v>
                </c:pt>
                <c:pt idx="3">
                  <c:v>Structural
premium</c:v>
                </c:pt>
                <c:pt idx="4">
                  <c:v>Residual
signal</c:v>
                </c:pt>
                <c:pt idx="5">
                  <c:v>Round-trip
cost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6.0</c:v>
                </c:pt>
                <c:pt idx="4">
                  <c:v>6.0</c:v>
                </c:pt>
                <c:pt idx="5">
                  <c:v>6.0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1D1F"/>
            </a:solidFill>
          </a:ln>
        </c:spPr>
        <c:txPr>
          <a:bodyPr/>
          <a:lstStyle/>
          <a:p>
            <a:pPr>
              <a:defRPr sz="1450" b="1">
                <a:solidFill>
                  <a:srgbClr val="1D1D1F"/>
                </a:solidFill>
                <a:latin typeface="IBM Plex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DDE1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 b="1">
                    <a:solidFill>
                      <a:srgbClr val="1D1D1F"/>
                    </a:solidFill>
                    <a:latin typeface="IBM Plex Sans"/>
                  </a:rPr>
                  <a:t>basis points (bps)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 b="1">
                <a:solidFill>
                  <a:srgbClr val="1D1D1F"/>
                </a:solidFill>
                <a:latin typeface="IBM Plex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Gold futures ADT (Rs crore)</c:v>
                </c:pt>
              </c:strCache>
            </c:strRef>
          </c:tx>
          <c:dPt>
            <c:idx val="0"/>
            <c:spPr>
              <a:solidFill>
                <a:srgbClr val="5B6770"/>
              </a:solidFill>
              <a:ln>
                <a:noFill/>
              </a:ln>
            </c:spPr>
          </c:dPt>
          <c:dPt>
            <c:idx val="1"/>
            <c:spPr>
              <a:solidFill>
                <a:srgbClr val="D97B1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FY2024-25</c:v>
                </c:pt>
                <c:pt idx="1">
                  <c:v>FY2025-26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8449.0</c:v>
                </c:pt>
                <c:pt idx="1">
                  <c:v>28484.0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50" b="1">
                  <a:solidFill>
                    <a:srgbClr val="1D1D1F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1D1F"/>
            </a:solidFill>
          </a:ln>
        </c:spPr>
        <c:txPr>
          <a:bodyPr/>
          <a:lstStyle/>
          <a:p>
            <a:pPr>
              <a:defRPr sz="1550" b="1">
                <a:solidFill>
                  <a:srgbClr val="1D1D1F"/>
                </a:solidFill>
                <a:latin typeface="IBM Plex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00.0"/>
          <c:min val="0.0"/>
        </c:scaling>
        <c:delete val="0"/>
        <c:axPos val="l"/>
        <c:majorGridlines>
          <c:spPr>
            <a:ln>
              <a:solidFill>
                <a:srgbClr val="DDE1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 b="1">
                <a:solidFill>
                  <a:srgbClr val="1D1D1F"/>
                </a:solidFill>
                <a:latin typeface="IBM Plex Sans"/>
              </a:defRPr>
            </a:pPr>
          </a:p>
        </c:txPr>
        <c:crossAx val="-2068027336"/>
        <c:crosses val="autoZero"/>
        <c:majorUnit val="10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 z-score</c:v>
                </c:pt>
              </c:strCache>
            </c:strRef>
          </c:tx>
          <c:spPr>
            <a:ln w="28575">
              <a:solidFill>
                <a:srgbClr val="2B343B"/>
              </a:solidFill>
            </a:ln>
          </c:spPr>
          <c:marker>
            <c:symbol val="none"/>
          </c:marker>
          <c:xVal>
            <c:numRef>
              <c:f>Sheet1!$A$2:$A$141</c:f>
              <c:numCache>
                <c:formatCode>General</c:formatCode>
                <c:ptCount val="1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</c:numCache>
            </c:numRef>
          </c:xVal>
          <c:yVal>
            <c:numRef>
              <c:f>Sheet1!$B$2:$B$141</c:f>
              <c:numCache>
                <c:formatCode>General</c:formatCode>
                <c:ptCount val="140"/>
                <c:pt idx="0">
                  <c:v>0.0</c:v>
                </c:pt>
                <c:pt idx="1">
                  <c:v>-0.192</c:v>
                </c:pt>
                <c:pt idx="2">
                  <c:v>0.226</c:v>
                </c:pt>
                <c:pt idx="3">
                  <c:v>0.016</c:v>
                </c:pt>
                <c:pt idx="4">
                  <c:v>-0.223</c:v>
                </c:pt>
                <c:pt idx="5">
                  <c:v>-0.881</c:v>
                </c:pt>
                <c:pt idx="6">
                  <c:v>-0.882</c:v>
                </c:pt>
                <c:pt idx="7">
                  <c:v>0.111</c:v>
                </c:pt>
                <c:pt idx="8">
                  <c:v>0.409</c:v>
                </c:pt>
                <c:pt idx="9">
                  <c:v>1.113</c:v>
                </c:pt>
                <c:pt idx="10">
                  <c:v>1.099</c:v>
                </c:pt>
                <c:pt idx="11">
                  <c:v>1.197</c:v>
                </c:pt>
                <c:pt idx="12">
                  <c:v>1.121</c:v>
                </c:pt>
                <c:pt idx="13">
                  <c:v>-0.33</c:v>
                </c:pt>
                <c:pt idx="14">
                  <c:v>0.371</c:v>
                </c:pt>
                <c:pt idx="15">
                  <c:v>0.684</c:v>
                </c:pt>
                <c:pt idx="16">
                  <c:v>0.935</c:v>
                </c:pt>
                <c:pt idx="17">
                  <c:v>-0.502</c:v>
                </c:pt>
                <c:pt idx="18">
                  <c:v>-1.72</c:v>
                </c:pt>
                <c:pt idx="19">
                  <c:v>-2.077</c:v>
                </c:pt>
                <c:pt idx="20">
                  <c:v>-2.055</c:v>
                </c:pt>
                <c:pt idx="21">
                  <c:v>-1.456</c:v>
                </c:pt>
                <c:pt idx="22">
                  <c:v>-1.228</c:v>
                </c:pt>
                <c:pt idx="23">
                  <c:v>-0.616</c:v>
                </c:pt>
                <c:pt idx="24">
                  <c:v>-0.987</c:v>
                </c:pt>
                <c:pt idx="25">
                  <c:v>-0.578</c:v>
                </c:pt>
                <c:pt idx="26">
                  <c:v>-0.178</c:v>
                </c:pt>
                <c:pt idx="27">
                  <c:v>-0.642</c:v>
                </c:pt>
                <c:pt idx="28">
                  <c:v>0.762</c:v>
                </c:pt>
                <c:pt idx="29">
                  <c:v>1.042</c:v>
                </c:pt>
                <c:pt idx="30">
                  <c:v>1.752</c:v>
                </c:pt>
                <c:pt idx="31">
                  <c:v>0.972</c:v>
                </c:pt>
                <c:pt idx="32">
                  <c:v>0.242</c:v>
                </c:pt>
                <c:pt idx="33">
                  <c:v>-0.06</c:v>
                </c:pt>
                <c:pt idx="34">
                  <c:v>-0.129</c:v>
                </c:pt>
                <c:pt idx="35">
                  <c:v>0.369</c:v>
                </c:pt>
                <c:pt idx="36">
                  <c:v>0.489</c:v>
                </c:pt>
                <c:pt idx="37">
                  <c:v>0.065</c:v>
                </c:pt>
                <c:pt idx="38">
                  <c:v>-0.664</c:v>
                </c:pt>
                <c:pt idx="39">
                  <c:v>-0.935</c:v>
                </c:pt>
                <c:pt idx="40">
                  <c:v>0.149</c:v>
                </c:pt>
                <c:pt idx="41">
                  <c:v>-0.484</c:v>
                </c:pt>
                <c:pt idx="42">
                  <c:v>-0.213</c:v>
                </c:pt>
                <c:pt idx="43">
                  <c:v>0.145</c:v>
                </c:pt>
                <c:pt idx="44">
                  <c:v>-0.998</c:v>
                </c:pt>
                <c:pt idx="45">
                  <c:v>-0.782</c:v>
                </c:pt>
                <c:pt idx="46">
                  <c:v>0.338</c:v>
                </c:pt>
                <c:pt idx="47">
                  <c:v>-1.233</c:v>
                </c:pt>
                <c:pt idx="48">
                  <c:v>-1.253</c:v>
                </c:pt>
                <c:pt idx="49">
                  <c:v>-1.107</c:v>
                </c:pt>
                <c:pt idx="50">
                  <c:v>-1.52</c:v>
                </c:pt>
                <c:pt idx="51">
                  <c:v>-0.874</c:v>
                </c:pt>
                <c:pt idx="52">
                  <c:v>-0.763</c:v>
                </c:pt>
                <c:pt idx="53">
                  <c:v>-1.724</c:v>
                </c:pt>
                <c:pt idx="54">
                  <c:v>-0.793</c:v>
                </c:pt>
                <c:pt idx="55">
                  <c:v>-0.148</c:v>
                </c:pt>
                <c:pt idx="56">
                  <c:v>0.588</c:v>
                </c:pt>
                <c:pt idx="57">
                  <c:v>1.562</c:v>
                </c:pt>
                <c:pt idx="58">
                  <c:v>1.553</c:v>
                </c:pt>
                <c:pt idx="59">
                  <c:v>1.363</c:v>
                </c:pt>
                <c:pt idx="60">
                  <c:v>0.143</c:v>
                </c:pt>
                <c:pt idx="61">
                  <c:v>0.579</c:v>
                </c:pt>
                <c:pt idx="62">
                  <c:v>0.016</c:v>
                </c:pt>
                <c:pt idx="63">
                  <c:v>-0.326</c:v>
                </c:pt>
                <c:pt idx="64">
                  <c:v>-1.216</c:v>
                </c:pt>
                <c:pt idx="65">
                  <c:v>-1.723</c:v>
                </c:pt>
                <c:pt idx="66">
                  <c:v>-1.811</c:v>
                </c:pt>
                <c:pt idx="67">
                  <c:v>-0.519</c:v>
                </c:pt>
                <c:pt idx="68">
                  <c:v>-1.949</c:v>
                </c:pt>
                <c:pt idx="69">
                  <c:v>-2.692</c:v>
                </c:pt>
                <c:pt idx="70">
                  <c:v>-2.028</c:v>
                </c:pt>
                <c:pt idx="71">
                  <c:v>-0.58</c:v>
                </c:pt>
                <c:pt idx="72">
                  <c:v>-0.042</c:v>
                </c:pt>
                <c:pt idx="73">
                  <c:v>-1.459</c:v>
                </c:pt>
                <c:pt idx="74">
                  <c:v>-3.085</c:v>
                </c:pt>
                <c:pt idx="75">
                  <c:v>-2.262</c:v>
                </c:pt>
                <c:pt idx="76">
                  <c:v>-2.407</c:v>
                </c:pt>
                <c:pt idx="77">
                  <c:v>-2.814</c:v>
                </c:pt>
                <c:pt idx="78">
                  <c:v>-1.574</c:v>
                </c:pt>
                <c:pt idx="79">
                  <c:v>-0.464</c:v>
                </c:pt>
                <c:pt idx="80">
                  <c:v>-0.263</c:v>
                </c:pt>
                <c:pt idx="81">
                  <c:v>-0.031</c:v>
                </c:pt>
                <c:pt idx="82">
                  <c:v>0.3</c:v>
                </c:pt>
                <c:pt idx="83">
                  <c:v>1.442</c:v>
                </c:pt>
                <c:pt idx="84">
                  <c:v>1.646</c:v>
                </c:pt>
                <c:pt idx="85">
                  <c:v>1.739</c:v>
                </c:pt>
                <c:pt idx="86">
                  <c:v>1.837</c:v>
                </c:pt>
                <c:pt idx="87">
                  <c:v>0.33</c:v>
                </c:pt>
                <c:pt idx="88">
                  <c:v>1.232</c:v>
                </c:pt>
                <c:pt idx="89">
                  <c:v>1.726</c:v>
                </c:pt>
                <c:pt idx="90">
                  <c:v>1.813</c:v>
                </c:pt>
                <c:pt idx="91">
                  <c:v>0.006</c:v>
                </c:pt>
                <c:pt idx="92">
                  <c:v>-0.47</c:v>
                </c:pt>
                <c:pt idx="93">
                  <c:v>0.246</c:v>
                </c:pt>
                <c:pt idx="94">
                  <c:v>-1.157</c:v>
                </c:pt>
                <c:pt idx="95">
                  <c:v>-1.086</c:v>
                </c:pt>
                <c:pt idx="96">
                  <c:v>-0.126</c:v>
                </c:pt>
                <c:pt idx="97">
                  <c:v>-1.087</c:v>
                </c:pt>
                <c:pt idx="98">
                  <c:v>0.316</c:v>
                </c:pt>
                <c:pt idx="99">
                  <c:v>0.673</c:v>
                </c:pt>
                <c:pt idx="100">
                  <c:v>0.44</c:v>
                </c:pt>
                <c:pt idx="101">
                  <c:v>0.604</c:v>
                </c:pt>
                <c:pt idx="102">
                  <c:v>0.983</c:v>
                </c:pt>
                <c:pt idx="103">
                  <c:v>0.896</c:v>
                </c:pt>
                <c:pt idx="104">
                  <c:v>1.594</c:v>
                </c:pt>
                <c:pt idx="105">
                  <c:v>0.811</c:v>
                </c:pt>
                <c:pt idx="106">
                  <c:v>0.354</c:v>
                </c:pt>
                <c:pt idx="107">
                  <c:v>1.072</c:v>
                </c:pt>
                <c:pt idx="108">
                  <c:v>0.899</c:v>
                </c:pt>
                <c:pt idx="109">
                  <c:v>0.077</c:v>
                </c:pt>
                <c:pt idx="110">
                  <c:v>0.773</c:v>
                </c:pt>
                <c:pt idx="111">
                  <c:v>1.733</c:v>
                </c:pt>
                <c:pt idx="112">
                  <c:v>1.087</c:v>
                </c:pt>
                <c:pt idx="113">
                  <c:v>-0.143</c:v>
                </c:pt>
                <c:pt idx="114">
                  <c:v>-0.219</c:v>
                </c:pt>
                <c:pt idx="115">
                  <c:v>-0.291</c:v>
                </c:pt>
                <c:pt idx="116">
                  <c:v>-0.462</c:v>
                </c:pt>
                <c:pt idx="117">
                  <c:v>0.675</c:v>
                </c:pt>
                <c:pt idx="118">
                  <c:v>-0.217</c:v>
                </c:pt>
                <c:pt idx="119">
                  <c:v>0.767</c:v>
                </c:pt>
                <c:pt idx="120">
                  <c:v>-0.322</c:v>
                </c:pt>
                <c:pt idx="121">
                  <c:v>-0.854</c:v>
                </c:pt>
                <c:pt idx="122">
                  <c:v>-0.227</c:v>
                </c:pt>
                <c:pt idx="123">
                  <c:v>0.66</c:v>
                </c:pt>
                <c:pt idx="124">
                  <c:v>1.186</c:v>
                </c:pt>
                <c:pt idx="125">
                  <c:v>1.231</c:v>
                </c:pt>
                <c:pt idx="126">
                  <c:v>1.116</c:v>
                </c:pt>
                <c:pt idx="127">
                  <c:v>1.03</c:v>
                </c:pt>
                <c:pt idx="128">
                  <c:v>1.276</c:v>
                </c:pt>
                <c:pt idx="129">
                  <c:v>0.914</c:v>
                </c:pt>
                <c:pt idx="130">
                  <c:v>0.958</c:v>
                </c:pt>
                <c:pt idx="131">
                  <c:v>1.215</c:v>
                </c:pt>
                <c:pt idx="132">
                  <c:v>0.997</c:v>
                </c:pt>
                <c:pt idx="133">
                  <c:v>1.39</c:v>
                </c:pt>
                <c:pt idx="134">
                  <c:v>1.564</c:v>
                </c:pt>
                <c:pt idx="135">
                  <c:v>2.791</c:v>
                </c:pt>
                <c:pt idx="136">
                  <c:v>2.532</c:v>
                </c:pt>
                <c:pt idx="137">
                  <c:v>1.756</c:v>
                </c:pt>
                <c:pt idx="138">
                  <c:v>1.16</c:v>
                </c:pt>
                <c:pt idx="139">
                  <c:v>0.942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Sheet1!$B$143</c:f>
              <c:strCache>
                <c:ptCount val="1"/>
                <c:pt idx="0">
                  <c:v>+2.5 threshold</c:v>
                </c:pt>
              </c:strCache>
            </c:strRef>
          </c:tx>
          <c:spPr>
            <a:ln w="25400">
              <a:solidFill>
                <a:srgbClr val="B23A48"/>
              </a:solidFill>
              <a:prstDash val="dash"/>
            </a:ln>
          </c:spPr>
          <c:marker>
            <c:symbol val="none"/>
          </c:marker>
          <c:xVal>
            <c:numRef>
              <c:f>Sheet1!$A$144:$A$145</c:f>
              <c:numCache>
                <c:formatCode>General</c:formatCode>
                <c:ptCount val="2"/>
                <c:pt idx="0">
                  <c:v>0</c:v>
                </c:pt>
                <c:pt idx="1">
                  <c:v>140</c:v>
                </c:pt>
              </c:numCache>
            </c:numRef>
          </c:xVal>
          <c:yVal>
            <c:numRef>
              <c:f>Sheet1!$B$144:$B$145</c:f>
              <c:numCache>
                <c:formatCode>General</c:formatCode>
                <c:ptCount val="2"/>
                <c:pt idx="0">
                  <c:v>2.5</c:v>
                </c:pt>
                <c:pt idx="1">
                  <c:v>2.5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Sheet1!$B$147</c:f>
              <c:strCache>
                <c:ptCount val="1"/>
                <c:pt idx="0">
                  <c:v>-2.5 threshold</c:v>
                </c:pt>
              </c:strCache>
            </c:strRef>
          </c:tx>
          <c:spPr>
            <a:ln w="25400">
              <a:solidFill>
                <a:srgbClr val="B23A48"/>
              </a:solidFill>
              <a:prstDash val="dash"/>
            </a:ln>
          </c:spPr>
          <c:marker>
            <c:symbol val="none"/>
          </c:marker>
          <c:xVal>
            <c:numRef>
              <c:f>Sheet1!$A$148:$A$149</c:f>
              <c:numCache>
                <c:formatCode>General</c:formatCode>
                <c:ptCount val="2"/>
                <c:pt idx="0">
                  <c:v>0</c:v>
                </c:pt>
                <c:pt idx="1">
                  <c:v>140</c:v>
                </c:pt>
              </c:numCache>
            </c:numRef>
          </c:xVal>
          <c:yVal>
            <c:numRef>
              <c:f>Sheet1!$B$148:$B$149</c:f>
              <c:numCache>
                <c:formatCode>General</c:formatCode>
                <c:ptCount val="2"/>
                <c:pt idx="0">
                  <c:v>-2.5</c:v>
                </c:pt>
                <c:pt idx="1">
                  <c:v>-2.5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0.0"/>
          <c:min val="0.0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rgbClr val="1D1D1F"/>
            </a:solidFill>
          </a:ln>
        </c:spPr>
        <c:txPr>
          <a:bodyPr/>
          <a:lstStyle/>
          <a:p>
            <a:pPr>
              <a:defRPr sz="1400" b="1">
                <a:solidFill>
                  <a:srgbClr val="1D1D1F"/>
                </a:solidFill>
                <a:latin typeface="IBM Plex Sans"/>
              </a:defRPr>
            </a:pPr>
          </a:p>
        </c:txPr>
        <c:crossAx val="-2129643912"/>
        <c:crosses val="min"/>
        <c:crossBetween val="midCat"/>
        <c:majorUnit val="20.0"/>
      </c:valAx>
      <c:valAx>
        <c:axId val="-2129643912"/>
        <c:scaling>
          <c:orientation val="minMax"/>
          <c:max val="4.0"/>
          <c:min val="-4.0"/>
        </c:scaling>
        <c:delete val="0"/>
        <c:axPos val="l"/>
        <c:majorGridlines>
          <c:spPr>
            <a:ln>
              <a:solidFill>
                <a:srgbClr val="DDE1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50" b="1">
                    <a:solidFill>
                      <a:srgbClr val="1D1D1F"/>
                    </a:solidFill>
                    <a:latin typeface="IBM Plex Sans"/>
                  </a:rPr>
                  <a:t>z-score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1D1D1F"/>
            </a:solidFill>
          </a:ln>
        </c:spPr>
        <c:txPr>
          <a:bodyPr/>
          <a:lstStyle/>
          <a:p>
            <a:pPr>
              <a:defRPr sz="1400" b="1">
                <a:solidFill>
                  <a:srgbClr val="1D1D1F"/>
                </a:solidFill>
                <a:latin typeface="IBM Plex Sans"/>
              </a:defRPr>
            </a:pPr>
          </a:p>
        </c:txPr>
        <c:crossAx val="-2128940872"/>
        <c:crosses val="min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803274" y="4586497"/>
            <a:ext cx="11896807" cy="2831587"/>
            <a:chOff x="0" y="-114300"/>
            <a:chExt cx="15862410" cy="3775450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-114300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55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4754880" y="4526280"/>
            <a:ext cx="129844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0" b="1">
                <a:solidFill>
                  <a:srgbClr val="D97B1F"/>
                </a:solidFill>
                <a:latin typeface="Montserrat"/>
              </a:rPr>
              <a:t>ARCH TITANS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54880" y="5779008"/>
            <a:ext cx="1298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D1D1F"/>
                </a:solidFill>
                <a:latin typeface="IBM Plex Sans"/>
              </a:rPr>
              <a:t>Problem Statement 03  |  </a:t>
            </a:r>
            <a:r>
              <a:rPr sz="2700" b="0">
                <a:solidFill>
                  <a:srgbClr val="1D1D1F"/>
                </a:solidFill>
                <a:latin typeface="IBM Plex Sans"/>
              </a:rPr>
              <a:t>Commodity Derivatives Intelligence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68122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22959" y="7086600"/>
            <a:ext cx="658368" cy="658368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7631" y="7086600"/>
            <a:ext cx="416966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D1D1F"/>
                </a:solidFill>
                <a:latin typeface="Montserrat"/>
              </a:rPr>
              <a:t>RAVI KUMAR AGARWAL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59" y="7927848"/>
            <a:ext cx="4901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B1F"/>
                </a:solidFill>
                <a:latin typeface="Montserrat"/>
              </a:rPr>
              <a:t>Team Leader  |  Data &amp; Quant Lead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59" y="8476488"/>
            <a:ext cx="490118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22262A"/>
                </a:solidFill>
                <a:latin typeface="IBM Plex Sans"/>
              </a:rPr>
              <a:t>Bhavcopy ingestion, validation, fine-gold normalisation, relative-value &amp; term-structure models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19088" y="68122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693407" y="7086600"/>
            <a:ext cx="658368" cy="658368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8079" y="7086600"/>
            <a:ext cx="416966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D1D1F"/>
                </a:solidFill>
                <a:latin typeface="Montserrat"/>
              </a:rPr>
              <a:t>SOURAV SUMAN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93407" y="7927848"/>
            <a:ext cx="4901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Montserrat"/>
              </a:rPr>
              <a:t>Quant Analyst &amp; Backtest Lead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93407" y="8476488"/>
            <a:ext cx="490118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22262A"/>
                </a:solidFill>
                <a:latin typeface="IBM Plex Sans"/>
              </a:rPr>
              <a:t>Walk-forward backtest engine, transaction cost scenarios, statistical hypotheses &amp; PnL attribution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2289536" y="68122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2563856" y="7086600"/>
            <a:ext cx="658368" cy="658368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368528" y="7086600"/>
            <a:ext cx="416966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D1D1F"/>
                </a:solidFill>
                <a:latin typeface="Montserrat"/>
              </a:rPr>
              <a:t>ANIL MAHTO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563856" y="7927848"/>
            <a:ext cx="4901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1D1F"/>
                </a:solidFill>
                <a:latin typeface="Montserrat"/>
              </a:rPr>
              <a:t>Product, Alerts &amp; Presentation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563856" y="8476488"/>
            <a:ext cx="490118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22262A"/>
                </a:solidFill>
                <a:latin typeface="IBM Plex Sans"/>
              </a:rPr>
              <a:t>Contract lifecycle calendar, quiet alerts, Streamlit dashboard, charts &amp; judge Q&amp;A narrative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2925" y="2001834"/>
            <a:ext cx="8601075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THEME</a:t>
            </a:r>
            <a:endParaRPr/>
          </a:p>
        </p:txBody>
      </p:sp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Rounded Rectangle 98"/>
          <p:cNvSpPr/>
          <p:nvPr/>
        </p:nvSpPr>
        <p:spPr>
          <a:xfrm>
            <a:off x="548640" y="2816352"/>
            <a:ext cx="17190720" cy="1353312"/>
          </a:xfrm>
          <a:prstGeom prst="roundRect">
            <a:avLst>
              <a:gd name="adj" fmla="val 3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8680" y="2944368"/>
            <a:ext cx="16550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B26A"/>
                </a:solidFill>
                <a:latin typeface="IBM Plex Sans"/>
              </a:rPr>
              <a:t>PS-03  Commodity Derivatives Intelligence: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turn India's public MCX settlement data into a defensible signal or analytics product that measures relative pricing between gold futures on the same metal, validated on unseen data after costs.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48640" y="4434840"/>
            <a:ext cx="5532120" cy="539496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22959" y="4663440"/>
            <a:ext cx="585216" cy="585216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54480" y="47000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Montserrat"/>
              </a:rPr>
              <a:t>PROBLEM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59" y="5440680"/>
            <a:ext cx="498348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Four MCX gold contracts, one metal: GOLDM, GOLDTEN, GOLDGUINEA, GOLDPETAL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Different lot size, quote base (10 g / 8 g / 1 g), purity (995 vs 999) and expiry window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Raw price gaps mix mechanical effects with real mispricing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Settlement is not an executable fill; volume is not depth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73368" y="4434840"/>
            <a:ext cx="5532120" cy="539496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47688" y="4663440"/>
            <a:ext cx="585216" cy="585216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79208" y="47000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Montserrat"/>
              </a:rPr>
              <a:t>IMPACT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647688" y="5440680"/>
            <a:ext cx="498348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Traders cannot tell opportunity from artefact, so false signals and wasted costs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Spliced near-month series create fake roll jumps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Small-lot contracts carry the widest relative costs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A backtest that ignores costs and thin days shows edge that vanishes live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2207240" y="4434840"/>
            <a:ext cx="5532120" cy="539496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2481560" y="4663440"/>
            <a:ext cx="585216" cy="585216"/>
          </a:xfrm>
          <a:prstGeom prst="ellips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213080" y="470001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1D1D1F"/>
                </a:solidFill>
                <a:latin typeface="Montserrat"/>
              </a:rPr>
              <a:t>THEME ALIGNMENT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481560" y="5440680"/>
            <a:ext cx="4983480" cy="425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Fintech and derivatives analytics built on public data (Bhavcopy, no API key)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Covers all five directions: relative value, term structure, backtest, alerts, lifecycle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Unseen-data validation with costs and gold-price attribution</a:t>
            </a:r>
          </a:p>
          <a:p>
            <a:pPr algn="l" marL="256032" indent="-256032">
              <a:spcAft>
                <a:spcPts val="1400"/>
              </a:spcAft>
              <a:buClr>
                <a:srgbClr val="D97B1F"/>
              </a:buClr>
              <a:buFont typeface="Arial"/>
              <a:buChar char="•"/>
            </a:pPr>
            <a:r>
              <a:rPr sz="2150" b="0">
                <a:solidFill>
                  <a:srgbClr val="1D1D1F"/>
                </a:solidFill>
                <a:latin typeface="IBM Plex Sans"/>
              </a:rPr>
              <a:t>A rigorous 'no edge survives' result is accepted as valid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34132" y="1962522"/>
            <a:ext cx="2771894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Rounded Rectangle 107"/>
          <p:cNvSpPr/>
          <p:nvPr/>
        </p:nvSpPr>
        <p:spPr>
          <a:xfrm>
            <a:off x="548640" y="2926080"/>
            <a:ext cx="9509760" cy="20574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3090672"/>
            <a:ext cx="8961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D97B1F"/>
                </a:solidFill>
                <a:latin typeface="Montserrat"/>
              </a:rPr>
              <a:t>What it does</a:t>
            </a:r>
          </a:p>
          <a:p>
            <a:r>
              <a:rPr sz="1950" b="0">
                <a:solidFill>
                  <a:srgbClr val="1D1D1F"/>
                </a:solidFill>
                <a:latin typeface="IBM Plex Sans"/>
              </a:rPr>
              <a:t>GoldLens converts four MCX gold contracts into one fine-gold price, removes carry and structural premium, validates every idea walk-forward on unseen data after costs, and alerts a trader only when expected edge clears cost.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521208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31520" y="539496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25880" y="535838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Fine-gold normalisation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25880" y="577900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INR per 999 g; hedge ratios 9.96 TEN, 12.45 GUINEA, 99.6 PETAL per GOLDM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394960" y="521208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577840" y="539496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0" y="535838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Relative-value engine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2200" y="577900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Carry-adjusted spread, robust z-score, half-life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672084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31520" y="690372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25880" y="686714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Term-structure analytics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25880" y="728776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Roll-down separated from real curve change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394960" y="672084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77840" y="690372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2200" y="686714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Walk-forward backtest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2200" y="728776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Held-contract PnL, 3 cost scenarios, holdout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48640" y="822960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31520" y="841248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25880" y="837590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Contract lifecycle calendar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25880" y="879652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Listing, liquidity ramp, tender, expiry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94960" y="8229600"/>
            <a:ext cx="4663440" cy="137160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577840" y="8412480"/>
            <a:ext cx="475488" cy="47548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72200" y="8375904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D1D1F"/>
                </a:solidFill>
                <a:latin typeface="Montserrat"/>
              </a:rPr>
              <a:t>Quiet alerts + dashboard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200" y="879652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22262A"/>
                </a:solidFill>
                <a:latin typeface="IBM Plex Sans"/>
              </a:rPr>
              <a:t>Silence by default; precision reported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41280" y="290779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Why a raw gap is not a signal</a:t>
            </a:r>
          </a:p>
        </p:txBody>
      </p:sp>
      <p:graphicFrame>
        <p:nvGraphicFramePr>
          <p:cNvPr id="135" name="Chart 134"/>
          <p:cNvGraphicFramePr>
            <a:graphicFrameLocks noGrp="1"/>
          </p:cNvGraphicFramePr>
          <p:nvPr/>
        </p:nvGraphicFramePr>
        <p:xfrm>
          <a:off x="10241280" y="3401568"/>
          <a:ext cx="7498079" cy="42519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6" name="TextBox 135"/>
          <p:cNvSpPr txBox="1"/>
          <p:nvPr/>
        </p:nvSpPr>
        <p:spPr>
          <a:xfrm>
            <a:off x="10241280" y="76992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48525A"/>
                </a:solidFill>
                <a:latin typeface="IBM Plex Sans"/>
              </a:rPr>
              <a:t>Illustrative decomposition (synthetic values, not market data)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241280" y="8229600"/>
            <a:ext cx="7498079" cy="1600200"/>
          </a:xfrm>
          <a:prstGeom prst="roundRect">
            <a:avLst>
              <a:gd name="adj" fmla="val 4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15600" y="8366760"/>
            <a:ext cx="69494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4B26A"/>
                </a:solidFill>
                <a:latin typeface="Montserrat"/>
              </a:rPr>
              <a:t>Unique value</a:t>
            </a:r>
          </a:p>
          <a:p>
            <a:r>
              <a:rPr sz="1850" b="0">
                <a:solidFill>
                  <a:srgbClr val="FFFFFF"/>
                </a:solidFill>
                <a:latin typeface="IBM Plex Sans"/>
              </a:rPr>
              <a:t>Contracts tracked by expiry date, strategy PnL split from gold price, and an honest verdict: edge or no edge, after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42427" y="1962522"/>
            <a:ext cx="4706682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ounded Rectangle 116"/>
          <p:cNvSpPr/>
          <p:nvPr/>
        </p:nvSpPr>
        <p:spPr>
          <a:xfrm>
            <a:off x="548640" y="29718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9808" y="31181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1  Ingest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8" y="35935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MCX Bhavcopy, daily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4297679" y="33741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065776" y="29718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66944" y="31181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2  Validate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66944" y="35935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Date-echo, format, dedup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8814816" y="33741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582912" y="29718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84080" y="31181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3  Store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784080" y="35935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Parquet / DuckDB by expiry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13331952" y="33741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4100048" y="29718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01216" y="31181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4  Normalise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301216" y="35935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INR per 999 g, lot ratios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45720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9808" y="47183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5  Analytics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9808" y="51937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Rel. value | Term structure | Lifecycle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4297679" y="49743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065776" y="45720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66944" y="47183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6  Backtest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66944" y="51937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Walk-forward, costs, fills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8814816" y="49743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582912" y="45720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84080" y="47183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7  Attribution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84080" y="51937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Gold vs carry vs spread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13331952" y="4974336"/>
            <a:ext cx="630936" cy="457200"/>
          </a:xfrm>
          <a:prstGeom prst="rightArrow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4100048" y="4572000"/>
            <a:ext cx="3611880" cy="1261872"/>
          </a:xfrm>
          <a:prstGeom prst="roundRect">
            <a:avLst>
              <a:gd name="adj" fmla="val 5000"/>
            </a:avLst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301216" y="4718304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ontserrat"/>
              </a:rPr>
              <a:t>8  Output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301216" y="5193792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IBM Plex Sans"/>
              </a:rPr>
              <a:t>Quiet alerts + dashboard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40" y="617220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2959" y="6355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TECH STACK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2959" y="6903720"/>
            <a:ext cx="45720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Python 3.11, pandas / polars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DuckDB + Parquet storage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numpy, scipy, statsmodels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Custom event-loop backtester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Streamlit + Plotly dashboard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pytest, YAML configs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897880" y="6172200"/>
            <a:ext cx="6492240" cy="3657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72200" y="63550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DATA FLOW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72200" y="6903720"/>
            <a:ext cx="59436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Bhavcopy request DD/MM/YYYY, response Date MM/DD/YYYY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Reject any row whose Date differs from the requested date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Key every row by (symbol, expiry_date, date)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No continuous near-month series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2618720" y="617220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893040" y="6355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APIs USED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893040" y="6903720"/>
            <a:ext cx="457200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No paid API or key: MCX Daily Bhavcopy is public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MCX contract-spec page feeds config (lot, tick, tender)</a:t>
            </a:r>
          </a:p>
          <a:p>
            <a:pPr algn="l" marL="256032" indent="-256032">
              <a:spcAft>
                <a:spcPts val="1000"/>
              </a:spcAft>
              <a:buClr>
                <a:srgbClr val="D97B1F"/>
              </a:buClr>
              <a:buFont typeface="Arial"/>
              <a:buChar char="•"/>
            </a:pPr>
            <a:r>
              <a:rPr sz="1950" b="0">
                <a:solidFill>
                  <a:srgbClr val="1D1D1F"/>
                </a:solidFill>
                <a:latin typeface="IBM Plex Sans"/>
              </a:rPr>
              <a:t>Optional: Telegram / email webhook for alert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1913006"/>
            <a:ext cx="9064063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 RESEARCH/ANALYSIS</a:t>
            </a:r>
            <a:endParaRPr/>
          </a:p>
        </p:txBody>
      </p: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ounded Rectangle 125"/>
          <p:cNvSpPr/>
          <p:nvPr/>
        </p:nvSpPr>
        <p:spPr>
          <a:xfrm>
            <a:off x="548640" y="2880360"/>
            <a:ext cx="8503920" cy="333756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2960" y="306324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TARGET USERS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" y="3639312"/>
            <a:ext cx="7955279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Retail and small-lot gold traders (PETAL, GUINEA, TEN)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Jewellers, refiners and bullion dealers hedging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Prop desks and algo traders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Brokers and fintech platforms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" y="6400800"/>
            <a:ext cx="8503920" cy="3429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2960" y="658368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REVENUE MODEL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2960" y="7150608"/>
            <a:ext cx="7955279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Freemium dashboard, paid alert subscription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B2B analytics API / white-label feed for brokers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Enterprise licence for desks and hedgers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Pricing to be set after user pilots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26880" y="28803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MARKET SIZE AND GROWTH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26880" y="347472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436607" y="3584448"/>
            <a:ext cx="24780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B26A"/>
                </a:solidFill>
                <a:latin typeface="Montserrat"/>
              </a:rPr>
              <a:t>Rs 28,484 cr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436607" y="4389120"/>
            <a:ext cx="24780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IBM Plex Sans"/>
              </a:rPr>
              <a:t>gold futures avg daily
turnover, FY26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2161520" y="347472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271248" y="3584448"/>
            <a:ext cx="24780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4B26A"/>
                </a:solidFill>
                <a:latin typeface="Montserrat"/>
              </a:rPr>
              <a:t>3.4x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271248" y="4389120"/>
            <a:ext cx="24780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IBM Plex Sans"/>
              </a:rPr>
              <a:t>growth vs FY25
(Rs 8,449 cr)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4996159" y="3474720"/>
            <a:ext cx="2697480" cy="178308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105888" y="3584448"/>
            <a:ext cx="24780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4B26A"/>
                </a:solidFill>
                <a:latin typeface="Montserrat"/>
              </a:rPr>
              <a:t>23 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105888" y="4389120"/>
            <a:ext cx="24780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IBM Plex Sans"/>
              </a:rPr>
              <a:t>avg daily futures volume
(11 t in FY25)</a:t>
            </a:r>
          </a:p>
        </p:txBody>
      </p:sp>
      <p:graphicFrame>
        <p:nvGraphicFramePr>
          <p:cNvPr id="142" name="Chart 141"/>
          <p:cNvGraphicFramePr>
            <a:graphicFrameLocks noGrp="1"/>
          </p:cNvGraphicFramePr>
          <p:nvPr/>
        </p:nvGraphicFramePr>
        <p:xfrm>
          <a:off x="9326880" y="5394960"/>
          <a:ext cx="4251960" cy="36118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43" name="TextBox 142"/>
          <p:cNvSpPr txBox="1"/>
          <p:nvPr/>
        </p:nvSpPr>
        <p:spPr>
          <a:xfrm>
            <a:off x="9326880" y="9070848"/>
            <a:ext cx="4251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1D1D1F"/>
                </a:solidFill>
                <a:latin typeface="IBM Plex Sans"/>
              </a:rPr>
              <a:t>Gold futures avg daily turnover (Rs crore)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3716000" y="5394960"/>
            <a:ext cx="4023360" cy="4041648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3944600" y="5559552"/>
            <a:ext cx="35661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D97B1F"/>
                </a:solidFill>
                <a:latin typeface="Montserrat"/>
              </a:rPr>
              <a:t>Why now</a:t>
            </a:r>
          </a:p>
          <a:p>
            <a:pPr algn="l" marL="219456" indent="-219456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700" b="0">
                <a:solidFill>
                  <a:srgbClr val="1D1D1F"/>
                </a:solidFill>
                <a:latin typeface="IBM Plex Sans"/>
              </a:rPr>
              <a:t>MCX added Gold Mini and Gold Ten futures, lifting bullion's share of turnover</a:t>
            </a:r>
          </a:p>
          <a:p>
            <a:pPr algn="l" marL="219456" indent="-219456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700" b="0">
                <a:solidFill>
                  <a:srgbClr val="1D1D1F"/>
                </a:solidFill>
                <a:latin typeface="IBM Plex Sans"/>
              </a:rPr>
              <a:t>More contracts on one metal means more relative-value questions</a:t>
            </a:r>
          </a:p>
          <a:p>
            <a:pPr algn="l" marL="219456" indent="-219456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700" b="0">
                <a:solidFill>
                  <a:srgbClr val="1D1D1F"/>
                </a:solidFill>
                <a:latin typeface="IBM Plex Sans"/>
              </a:rPr>
              <a:t>Gold plus silver were about 77% of futures turnover in Q4 FY26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326880" y="952804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48525A"/>
                </a:solidFill>
                <a:latin typeface="IBM Plex Sans"/>
              </a:rPr>
              <a:t>Sources: Business Today (14 Aug 2026) on MCX FY26 data; MCX Q4 FY26 results coverage. Figures are exchange activity, not our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-2138647" y="163221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Pentagon 134"/>
          <p:cNvSpPr/>
          <p:nvPr/>
        </p:nvSpPr>
        <p:spPr>
          <a:xfrm>
            <a:off x="548640" y="2926080"/>
            <a:ext cx="5532120" cy="1188720"/>
          </a:xfrm>
          <a:prstGeom prst="homePlat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68680" y="309067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NOW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Prototype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48640" y="434340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22959" y="461772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Bhavcopy pipeline and validation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Four-contract normalisation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Walk-forward backtest with costs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Dashboard and quiet alerts</a:t>
            </a:r>
          </a:p>
        </p:txBody>
      </p:sp>
      <p:sp>
        <p:nvSpPr>
          <p:cNvPr id="139" name="Pentagon 138"/>
          <p:cNvSpPr/>
          <p:nvPr/>
        </p:nvSpPr>
        <p:spPr>
          <a:xfrm>
            <a:off x="6373368" y="2926080"/>
            <a:ext cx="5532120" cy="1188720"/>
          </a:xfrm>
          <a:prstGeom prst="homePlate">
            <a:avLst/>
          </a:prstGeom>
          <a:solidFill>
            <a:srgbClr val="D9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93407" y="309067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NEXT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Productise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373368" y="434340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47688" y="461772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Mobile app and push alerts (Telegram / WhatsApp)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Intraday and order-book data for true spread and impact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Silver and other bullion contracts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Live data feed</a:t>
            </a:r>
          </a:p>
        </p:txBody>
      </p:sp>
      <p:sp>
        <p:nvSpPr>
          <p:cNvPr id="143" name="Pentagon 142"/>
          <p:cNvSpPr/>
          <p:nvPr/>
        </p:nvSpPr>
        <p:spPr>
          <a:xfrm>
            <a:off x="12207240" y="2926080"/>
            <a:ext cx="5532120" cy="1188720"/>
          </a:xfrm>
          <a:prstGeom prst="homePlate">
            <a:avLst/>
          </a:prstGeom>
          <a:solidFill>
            <a:srgbClr val="2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527280" y="3090672"/>
            <a:ext cx="4572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LATER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Scale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2207240" y="434340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481560" y="461772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AI model improvement: regime detection and carry forecasts under the same walk-forward rules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Enterprise integrations: broker and hedger APIs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Cross-market parity with global gold and USDINR</a:t>
            </a:r>
          </a:p>
          <a:p>
            <a:pPr algn="l" marL="256032" indent="-256032">
              <a:spcAft>
                <a:spcPts val="1200"/>
              </a:spcAft>
              <a:buClr>
                <a:srgbClr val="D97B1F"/>
              </a:buClr>
              <a:buFont typeface="Arial"/>
              <a:buChar char="•"/>
            </a:pPr>
            <a:r>
              <a:rPr sz="2100" b="0">
                <a:solidFill>
                  <a:srgbClr val="1D1D1F"/>
                </a:solidFill>
                <a:latin typeface="IBM Plex Sans"/>
              </a:rPr>
              <a:t>Scaling to global users and exchanges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40" y="8686800"/>
            <a:ext cx="17190720" cy="1143000"/>
          </a:xfrm>
          <a:prstGeom prst="roundRect">
            <a:avLst>
              <a:gd name="adj" fmla="val 3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8680" y="8778240"/>
            <a:ext cx="1655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>
                <a:solidFill>
                  <a:srgbClr val="F4B26A"/>
                </a:solidFill>
                <a:latin typeface="Montserrat"/>
              </a:rPr>
              <a:t>Guiding rule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Every addition, including AI models, must pass the same walk-forward, cost-inclusive test before it ships.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-1537303" y="160120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EXTRA(OPTIONAL)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548640" y="28803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Walk-forward validation on unseen data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" y="3520440"/>
            <a:ext cx="3364992" cy="585216"/>
          </a:xfrm>
          <a:prstGeom prst="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3232" y="3520440"/>
            <a:ext cx="309067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IBM Plex Sans"/>
              </a:rPr>
              <a:t>Fold 1: train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169663" y="3520440"/>
            <a:ext cx="1097280" cy="585216"/>
          </a:xfrm>
          <a:prstGeom prst="rect">
            <a:avLst/>
          </a:prstGeom>
          <a:solidFill>
            <a:srgbClr val="2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69663" y="3520440"/>
            <a:ext cx="1097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BM Plex Sans"/>
              </a:rPr>
              <a:t>test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8640" y="4251960"/>
            <a:ext cx="4206240" cy="585216"/>
          </a:xfrm>
          <a:prstGeom prst="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3232" y="4251960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IBM Plex Sans"/>
              </a:rPr>
              <a:t>Fold 2: train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10912" y="4251960"/>
            <a:ext cx="1097280" cy="585216"/>
          </a:xfrm>
          <a:prstGeom prst="rect">
            <a:avLst/>
          </a:prstGeom>
          <a:solidFill>
            <a:srgbClr val="2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010912" y="4251960"/>
            <a:ext cx="1097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BM Plex Sans"/>
              </a:rPr>
              <a:t>test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640" y="4983480"/>
            <a:ext cx="5047488" cy="585216"/>
          </a:xfrm>
          <a:prstGeom prst="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13232" y="4983480"/>
            <a:ext cx="4773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IBM Plex Sans"/>
              </a:rPr>
              <a:t>Fold 3: train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852160" y="4983480"/>
            <a:ext cx="1097280" cy="585216"/>
          </a:xfrm>
          <a:prstGeom prst="rect">
            <a:avLst/>
          </a:prstGeom>
          <a:solidFill>
            <a:srgbClr val="2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852160" y="4983480"/>
            <a:ext cx="10972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BM Plex Sans"/>
              </a:rPr>
              <a:t>test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8640" y="5715000"/>
            <a:ext cx="6565392" cy="585216"/>
          </a:xfrm>
          <a:prstGeom prst="rect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13232" y="5715000"/>
            <a:ext cx="629107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IBM Plex Sans"/>
              </a:rPr>
              <a:t>Parameters frozen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60920" y="5715000"/>
            <a:ext cx="1600200" cy="585216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60920" y="5715000"/>
            <a:ext cx="16002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BM Plex Sans"/>
              </a:rPr>
              <a:t>HOLDOUT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8640" y="6446520"/>
            <a:ext cx="8412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50" b="0">
                <a:solidFill>
                  <a:srgbClr val="22262A"/>
                </a:solidFill>
                <a:latin typeface="IBM Plex Sans"/>
              </a:rPr>
              <a:t>Signal at close t, fill at t+1; embargo between train and test; holdout touched once.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326880" y="28803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D1D1F"/>
                </a:solidFill>
                <a:latin typeface="Montserrat"/>
              </a:rPr>
              <a:t>Quiet by design: alert only beyond the gates</a:t>
            </a:r>
          </a:p>
        </p:txBody>
      </p:sp>
      <p:graphicFrame>
        <p:nvGraphicFramePr>
          <p:cNvPr id="163" name="Chart 162"/>
          <p:cNvGraphicFramePr>
            <a:graphicFrameLocks noGrp="1"/>
          </p:cNvGraphicFramePr>
          <p:nvPr/>
        </p:nvGraphicFramePr>
        <p:xfrm>
          <a:off x="9326880" y="3364992"/>
          <a:ext cx="8412480" cy="34015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64" name="TextBox 163"/>
          <p:cNvSpPr txBox="1"/>
          <p:nvPr/>
        </p:nvSpPr>
        <p:spPr>
          <a:xfrm>
            <a:off x="9326880" y="6784848"/>
            <a:ext cx="8412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>
                <a:solidFill>
                  <a:srgbClr val="48525A"/>
                </a:solidFill>
                <a:latin typeface="IBM Plex Sans"/>
              </a:rPr>
              <a:t>Illustrative synthetic series (not market data). Dashed lines: ±2.5 z-threshold; an alert also needs expected net edge above cost, liquidity and calendar checks.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48640" y="75438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22959" y="7699248"/>
            <a:ext cx="4983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D1D1F"/>
                </a:solidFill>
                <a:latin typeface="Montserrat"/>
              </a:rPr>
              <a:t>PnL ATTRIBUTION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22959" y="8211312"/>
            <a:ext cx="49834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Total = Gold + Carry + Spread - Costs</a:t>
            </a:r>
          </a:p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Fine-gold-neutral legs; regress PnL on gold return (beta near 0)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373368" y="75438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647688" y="7699248"/>
            <a:ext cx="4983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D1D1F"/>
                </a:solidFill>
                <a:latin typeface="Montserrat"/>
              </a:rPr>
              <a:t>TESTS WE RUN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47688" y="8211312"/>
            <a:ext cx="49834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Placebo entry test, block bootstrap, deflated Sharpe</a:t>
            </a:r>
          </a:p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Gross vs net and break-even cost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2207240" y="75438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481560" y="7699248"/>
            <a:ext cx="4983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D1D1F"/>
                </a:solidFill>
                <a:latin typeface="Montserrat"/>
              </a:rPr>
              <a:t>PRE-REGISTERED HYPOTHESES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2481560" y="8211312"/>
            <a:ext cx="49834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H1 reversion, H2 edge &gt; cost, H3 abnormal carry, H4 gold-neutral, H5 cost-robust</a:t>
            </a:r>
          </a:p>
          <a:p>
            <a:pPr algn="l" marL="256032" indent="-256032">
              <a:spcAft>
                <a:spcPts val="800"/>
              </a:spcAft>
              <a:buClr>
                <a:srgbClr val="D97B1F"/>
              </a:buClr>
              <a:buFont typeface="Arial"/>
              <a:buChar char="•"/>
            </a:pPr>
            <a:r>
              <a:rPr sz="1850" b="0">
                <a:solidFill>
                  <a:srgbClr val="1D1D1F"/>
                </a:solidFill>
                <a:latin typeface="IBM Plex Sans"/>
              </a:rPr>
              <a:t>'No edge survives costs' is a valid verdict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